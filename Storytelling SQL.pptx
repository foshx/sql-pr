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E59AF-3957-4329-AA96-B231CF7E9941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FCD97-2E89-4E6B-9D3F-75E6C325C1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972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FCD97-2E89-4E6B-9D3F-75E6C325C1F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957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66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348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30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9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08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90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37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79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69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70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49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20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42CF7F3-4394-40DB-64AA-AB9637A5D5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11B3-7627-5B14-BAEB-E03DE9B89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909456"/>
            <a:ext cx="7393922" cy="3066469"/>
          </a:xfrm>
        </p:spPr>
        <p:txBody>
          <a:bodyPr anchor="b"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Результаты анализа проекта «</a:t>
            </a:r>
            <a:r>
              <a:rPr lang="en-US">
                <a:solidFill>
                  <a:srgbClr val="FFFFFF"/>
                </a:solidFill>
              </a:rPr>
              <a:t>Zombie Revolution</a:t>
            </a:r>
            <a:r>
              <a:rPr lang="ru-RU">
                <a:solidFill>
                  <a:srgbClr val="FFFFFF"/>
                </a:solidFill>
              </a:rPr>
              <a:t>»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619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4BABF-9B33-87AA-0460-21A834C82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ru-RU" dirty="0"/>
              <a:t>Общая информация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055CD6-5671-6102-C902-4CA9D3869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нашем проекте участвует:</a:t>
            </a:r>
          </a:p>
          <a:p>
            <a:r>
              <a:rPr lang="ru-RU" dirty="0"/>
              <a:t> 3087 игроков </a:t>
            </a:r>
          </a:p>
          <a:p>
            <a:pPr marL="0" indent="0">
              <a:buNone/>
            </a:pPr>
            <a:r>
              <a:rPr lang="ru-RU" dirty="0"/>
              <a:t>При этом количество новых игроков постепенно увеличивается: </a:t>
            </a:r>
          </a:p>
          <a:p>
            <a:pPr marL="0" indent="0">
              <a:buNone/>
            </a:pPr>
            <a:endParaRPr lang="ru-RU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4C0F31-8F3E-3BEC-8484-1075CF3A1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441407"/>
            <a:ext cx="11153648" cy="176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5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CD74C-808D-8682-6387-2A46E0DD1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2743200" cy="3865417"/>
          </a:xfrm>
        </p:spPr>
        <p:txBody>
          <a:bodyPr anchor="t">
            <a:normAutofit/>
          </a:bodyPr>
          <a:lstStyle/>
          <a:p>
            <a:r>
              <a:rPr lang="ru-RU" sz="3600" dirty="0"/>
              <a:t>Игровые сессии </a:t>
            </a:r>
            <a:endParaRPr lang="ru-RU" sz="3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C9C6B2-85DF-C57F-6EA8-71B405455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6929" y="353964"/>
            <a:ext cx="7834080" cy="6272978"/>
          </a:xfrm>
        </p:spPr>
        <p:txBody>
          <a:bodyPr anchor="t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Суммарное количество игровых сессий:</a:t>
            </a:r>
          </a:p>
          <a:p>
            <a:r>
              <a:rPr lang="ru-RU" dirty="0"/>
              <a:t>27161 </a:t>
            </a:r>
          </a:p>
          <a:p>
            <a:pPr marL="0" indent="0">
              <a:buNone/>
            </a:pPr>
            <a:r>
              <a:rPr lang="ru-RU" dirty="0"/>
              <a:t>Количество игровых сессий которые длились </a:t>
            </a:r>
            <a:r>
              <a:rPr lang="ru-RU" u="sng" dirty="0"/>
              <a:t>менее 5 минут</a:t>
            </a:r>
            <a:r>
              <a:rPr lang="ru-RU" dirty="0"/>
              <a:t>: </a:t>
            </a:r>
          </a:p>
          <a:p>
            <a:r>
              <a:rPr lang="ru-RU" dirty="0"/>
              <a:t>7 804</a:t>
            </a:r>
          </a:p>
          <a:p>
            <a:pPr marL="0" indent="0">
              <a:buNone/>
            </a:pPr>
            <a:r>
              <a:rPr lang="ru-RU" dirty="0"/>
              <a:t>Доля «нормальных» сессий (длятся более 5 минут) от общего количества:</a:t>
            </a:r>
          </a:p>
          <a:p>
            <a:r>
              <a:rPr lang="ru-RU" dirty="0"/>
              <a:t>Июль 2022 – 76.39 %</a:t>
            </a:r>
          </a:p>
          <a:p>
            <a:r>
              <a:rPr lang="ru-RU" dirty="0"/>
              <a:t>Август</a:t>
            </a:r>
            <a:r>
              <a:rPr lang="en-US" dirty="0"/>
              <a:t> 2022</a:t>
            </a:r>
            <a:r>
              <a:rPr lang="ru-RU" dirty="0"/>
              <a:t> – 77.27 %</a:t>
            </a:r>
          </a:p>
          <a:p>
            <a:r>
              <a:rPr lang="ru-RU" dirty="0"/>
              <a:t>Сентябрь</a:t>
            </a:r>
            <a:r>
              <a:rPr lang="en-US" dirty="0"/>
              <a:t> 2022</a:t>
            </a:r>
            <a:r>
              <a:rPr lang="ru-RU" dirty="0"/>
              <a:t> – 76.8 %</a:t>
            </a:r>
          </a:p>
          <a:p>
            <a:r>
              <a:rPr lang="ru-RU" dirty="0">
                <a:highlight>
                  <a:srgbClr val="00FF00"/>
                </a:highlight>
              </a:rPr>
              <a:t>Октябрь</a:t>
            </a:r>
            <a:r>
              <a:rPr lang="en-US" dirty="0">
                <a:highlight>
                  <a:srgbClr val="00FF00"/>
                </a:highlight>
              </a:rPr>
              <a:t> 2022</a:t>
            </a:r>
            <a:r>
              <a:rPr lang="ru-RU" dirty="0">
                <a:highlight>
                  <a:srgbClr val="00FF00"/>
                </a:highlight>
              </a:rPr>
              <a:t> – 77.57 %</a:t>
            </a:r>
          </a:p>
          <a:p>
            <a:r>
              <a:rPr lang="ru-RU" dirty="0"/>
              <a:t>Ноябрь</a:t>
            </a:r>
            <a:r>
              <a:rPr lang="en-US" dirty="0"/>
              <a:t> 2022</a:t>
            </a:r>
            <a:r>
              <a:rPr lang="ru-RU" dirty="0"/>
              <a:t> – 74.23 %</a:t>
            </a:r>
          </a:p>
          <a:p>
            <a:r>
              <a:rPr lang="ru-RU" dirty="0"/>
              <a:t>Декабрь</a:t>
            </a:r>
            <a:r>
              <a:rPr lang="en-US" dirty="0"/>
              <a:t> 2022</a:t>
            </a:r>
            <a:r>
              <a:rPr lang="ru-RU" dirty="0"/>
              <a:t> – 65.45 %</a:t>
            </a:r>
          </a:p>
          <a:p>
            <a:r>
              <a:rPr lang="ru-RU" dirty="0"/>
              <a:t>Январь</a:t>
            </a:r>
            <a:r>
              <a:rPr lang="en-US" dirty="0"/>
              <a:t> 2023</a:t>
            </a:r>
            <a:r>
              <a:rPr lang="ru-RU" dirty="0"/>
              <a:t> – 73.17 %</a:t>
            </a:r>
          </a:p>
          <a:p>
            <a:r>
              <a:rPr lang="ru-RU" dirty="0"/>
              <a:t>Февраль</a:t>
            </a:r>
            <a:r>
              <a:rPr lang="en-US" dirty="0"/>
              <a:t> 2023</a:t>
            </a:r>
            <a:r>
              <a:rPr lang="ru-RU" dirty="0"/>
              <a:t> – 71.8 % </a:t>
            </a:r>
          </a:p>
          <a:p>
            <a:r>
              <a:rPr lang="ru-RU" dirty="0"/>
              <a:t>Март</a:t>
            </a:r>
            <a:r>
              <a:rPr lang="en-US" dirty="0"/>
              <a:t> 2023</a:t>
            </a:r>
            <a:r>
              <a:rPr lang="ru-RU" dirty="0"/>
              <a:t> – 67.4 % </a:t>
            </a:r>
          </a:p>
          <a:p>
            <a:r>
              <a:rPr lang="ru-RU" dirty="0">
                <a:highlight>
                  <a:srgbClr val="FF0000"/>
                </a:highlight>
              </a:rPr>
              <a:t>Апрель</a:t>
            </a:r>
            <a:r>
              <a:rPr lang="en-US" dirty="0">
                <a:highlight>
                  <a:srgbClr val="FF0000"/>
                </a:highlight>
              </a:rPr>
              <a:t> 2023 </a:t>
            </a:r>
            <a:r>
              <a:rPr lang="ru-RU" dirty="0">
                <a:highlight>
                  <a:srgbClr val="FF0000"/>
                </a:highlight>
              </a:rPr>
              <a:t>– 65.21 % </a:t>
            </a:r>
          </a:p>
          <a:p>
            <a:pPr marL="0" indent="0">
              <a:buNone/>
            </a:pPr>
            <a:endParaRPr lang="ru-RU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1FC8CC-145C-8745-889B-6521F9CCB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50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082EB-5FB3-82FF-1250-D3F87B7B0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75382B-7F80-4AEC-954C-CDE46B523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77D14-BDF2-8D15-0A38-83208A105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2743200" cy="3865417"/>
          </a:xfrm>
        </p:spPr>
        <p:txBody>
          <a:bodyPr anchor="t">
            <a:normAutofit/>
          </a:bodyPr>
          <a:lstStyle/>
          <a:p>
            <a:r>
              <a:rPr lang="ru-RU" sz="3600" dirty="0"/>
              <a:t>Игровые сессии </a:t>
            </a:r>
            <a:endParaRPr lang="ru-RU" sz="3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B134FC-21CD-F39D-242B-DADA76426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6929" y="353964"/>
            <a:ext cx="7834080" cy="627297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dirty="0"/>
              <a:t>Средняя длительность игровых сессий: </a:t>
            </a:r>
          </a:p>
          <a:p>
            <a:r>
              <a:rPr lang="ru-RU" dirty="0"/>
              <a:t>Июль 2022 – </a:t>
            </a:r>
            <a:r>
              <a:rPr lang="en-US" dirty="0"/>
              <a:t>2 </a:t>
            </a:r>
            <a:r>
              <a:rPr lang="ru-RU" dirty="0"/>
              <a:t>часа 13 мин. </a:t>
            </a:r>
          </a:p>
          <a:p>
            <a:r>
              <a:rPr lang="ru-RU" dirty="0"/>
              <a:t>Август</a:t>
            </a:r>
            <a:r>
              <a:rPr lang="en-US" dirty="0"/>
              <a:t> 2022</a:t>
            </a:r>
            <a:r>
              <a:rPr lang="ru-RU" dirty="0"/>
              <a:t> – </a:t>
            </a:r>
            <a:r>
              <a:rPr lang="en-US" dirty="0"/>
              <a:t>2 </a:t>
            </a:r>
            <a:r>
              <a:rPr lang="ru-RU" dirty="0"/>
              <a:t>часа 19 мин. </a:t>
            </a:r>
          </a:p>
          <a:p>
            <a:r>
              <a:rPr lang="ru-RU" dirty="0"/>
              <a:t>Сентябрь</a:t>
            </a:r>
            <a:r>
              <a:rPr lang="en-US" dirty="0"/>
              <a:t> 2022</a:t>
            </a:r>
            <a:r>
              <a:rPr lang="ru-RU" dirty="0"/>
              <a:t> – </a:t>
            </a:r>
            <a:r>
              <a:rPr lang="en-US" dirty="0"/>
              <a:t>2 </a:t>
            </a:r>
            <a:r>
              <a:rPr lang="ru-RU" dirty="0"/>
              <a:t>часа 16 мин. </a:t>
            </a:r>
          </a:p>
          <a:p>
            <a:r>
              <a:rPr lang="ru-RU" dirty="0"/>
              <a:t>Октябрь</a:t>
            </a:r>
            <a:r>
              <a:rPr lang="en-US" dirty="0"/>
              <a:t> 2022</a:t>
            </a:r>
            <a:r>
              <a:rPr lang="ru-RU" dirty="0"/>
              <a:t> – </a:t>
            </a:r>
            <a:r>
              <a:rPr lang="en-US" dirty="0"/>
              <a:t>2 </a:t>
            </a:r>
            <a:r>
              <a:rPr lang="ru-RU" dirty="0"/>
              <a:t>часа 22 мин.</a:t>
            </a:r>
          </a:p>
          <a:p>
            <a:r>
              <a:rPr lang="ru-RU" dirty="0"/>
              <a:t>Ноябрь</a:t>
            </a:r>
            <a:r>
              <a:rPr lang="en-US" dirty="0"/>
              <a:t> 2022</a:t>
            </a:r>
            <a:r>
              <a:rPr lang="ru-RU" dirty="0"/>
              <a:t> – </a:t>
            </a:r>
            <a:r>
              <a:rPr lang="en-US" dirty="0"/>
              <a:t>2 </a:t>
            </a:r>
            <a:r>
              <a:rPr lang="ru-RU" dirty="0"/>
              <a:t>часа 30 мин. </a:t>
            </a:r>
          </a:p>
          <a:p>
            <a:r>
              <a:rPr lang="ru-RU" dirty="0"/>
              <a:t>Декабрь</a:t>
            </a:r>
            <a:r>
              <a:rPr lang="en-US" dirty="0"/>
              <a:t> 2022</a:t>
            </a:r>
            <a:r>
              <a:rPr lang="ru-RU" dirty="0"/>
              <a:t> – </a:t>
            </a:r>
            <a:r>
              <a:rPr lang="en-US" dirty="0"/>
              <a:t>2 </a:t>
            </a:r>
            <a:r>
              <a:rPr lang="ru-RU" dirty="0"/>
              <a:t>часа 43 мин..</a:t>
            </a:r>
          </a:p>
          <a:p>
            <a:r>
              <a:rPr lang="ru-RU" dirty="0"/>
              <a:t>Январь</a:t>
            </a:r>
            <a:r>
              <a:rPr lang="en-US" dirty="0"/>
              <a:t> 2023</a:t>
            </a:r>
            <a:r>
              <a:rPr lang="ru-RU" dirty="0"/>
              <a:t> – </a:t>
            </a:r>
            <a:r>
              <a:rPr lang="en-US" dirty="0"/>
              <a:t>2 </a:t>
            </a:r>
            <a:r>
              <a:rPr lang="ru-RU" dirty="0"/>
              <a:t>часа 23 мин. </a:t>
            </a:r>
          </a:p>
          <a:p>
            <a:r>
              <a:rPr lang="ru-RU" dirty="0"/>
              <a:t>Февраль</a:t>
            </a:r>
            <a:r>
              <a:rPr lang="en-US" dirty="0"/>
              <a:t> 2023</a:t>
            </a:r>
            <a:r>
              <a:rPr lang="ru-RU" dirty="0"/>
              <a:t> – </a:t>
            </a:r>
            <a:r>
              <a:rPr lang="en-US" dirty="0"/>
              <a:t>2 </a:t>
            </a:r>
            <a:r>
              <a:rPr lang="ru-RU" dirty="0"/>
              <a:t>часа 17 мин. </a:t>
            </a:r>
          </a:p>
          <a:p>
            <a:r>
              <a:rPr lang="ru-RU" dirty="0">
                <a:highlight>
                  <a:srgbClr val="FFFF00"/>
                </a:highlight>
              </a:rPr>
              <a:t>Март</a:t>
            </a:r>
            <a:r>
              <a:rPr lang="en-US" dirty="0">
                <a:highlight>
                  <a:srgbClr val="FFFF00"/>
                </a:highlight>
              </a:rPr>
              <a:t> 2023</a:t>
            </a:r>
            <a:r>
              <a:rPr lang="ru-RU" dirty="0">
                <a:highlight>
                  <a:srgbClr val="FFFF00"/>
                </a:highlight>
              </a:rPr>
              <a:t> – 5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ru-RU" dirty="0">
                <a:highlight>
                  <a:srgbClr val="FFFF00"/>
                </a:highlight>
              </a:rPr>
              <a:t>часов 32 мин. </a:t>
            </a:r>
          </a:p>
          <a:p>
            <a:r>
              <a:rPr lang="ru-RU" dirty="0"/>
              <a:t>Апрель</a:t>
            </a:r>
            <a:r>
              <a:rPr lang="en-US" dirty="0"/>
              <a:t> 2023 </a:t>
            </a:r>
            <a:r>
              <a:rPr lang="ru-RU" dirty="0"/>
              <a:t>– </a:t>
            </a:r>
            <a:r>
              <a:rPr lang="en-US" dirty="0"/>
              <a:t>2 </a:t>
            </a:r>
            <a:r>
              <a:rPr lang="ru-RU" dirty="0"/>
              <a:t>часа 20 мин.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53BDA7-B13B-A2BA-A82E-F8CCC6B56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468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344B8-4A96-366C-DE47-87E36E1D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69CD78-9E01-EDA3-BE0A-D4138AE93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92F22-9F06-E612-C1F0-DCCBCCFCD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2743200" cy="3865417"/>
          </a:xfrm>
        </p:spPr>
        <p:txBody>
          <a:bodyPr anchor="t">
            <a:normAutofit/>
          </a:bodyPr>
          <a:lstStyle/>
          <a:p>
            <a:r>
              <a:rPr lang="ru-RU" sz="3600" dirty="0"/>
              <a:t>Игровые сессии </a:t>
            </a:r>
            <a:endParaRPr lang="ru-RU" sz="3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B53B7E-2672-46A1-02B8-8636ABA29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6929" y="353964"/>
            <a:ext cx="7834080" cy="627297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dirty="0"/>
              <a:t>Доля длинных сессий (длятся более часа) от общего количества: </a:t>
            </a:r>
          </a:p>
          <a:p>
            <a:r>
              <a:rPr lang="ru-RU" dirty="0"/>
              <a:t>Июль 2022 – 51.04 %</a:t>
            </a:r>
          </a:p>
          <a:p>
            <a:r>
              <a:rPr lang="ru-RU" dirty="0">
                <a:highlight>
                  <a:srgbClr val="00FF00"/>
                </a:highlight>
              </a:rPr>
              <a:t>Август</a:t>
            </a:r>
            <a:r>
              <a:rPr lang="en-US" dirty="0">
                <a:highlight>
                  <a:srgbClr val="00FF00"/>
                </a:highlight>
              </a:rPr>
              <a:t> 2022</a:t>
            </a:r>
            <a:r>
              <a:rPr lang="ru-RU" dirty="0">
                <a:highlight>
                  <a:srgbClr val="00FF00"/>
                </a:highlight>
              </a:rPr>
              <a:t> – 53.51 %</a:t>
            </a:r>
          </a:p>
          <a:p>
            <a:r>
              <a:rPr lang="ru-RU" dirty="0"/>
              <a:t>Сентябрь</a:t>
            </a:r>
            <a:r>
              <a:rPr lang="en-US" dirty="0"/>
              <a:t> 2022</a:t>
            </a:r>
            <a:r>
              <a:rPr lang="ru-RU" dirty="0"/>
              <a:t> – 53.11 %</a:t>
            </a:r>
          </a:p>
          <a:p>
            <a:r>
              <a:rPr lang="ru-RU" dirty="0"/>
              <a:t>Октябрь</a:t>
            </a:r>
            <a:r>
              <a:rPr lang="en-US" dirty="0"/>
              <a:t> 2022</a:t>
            </a:r>
            <a:r>
              <a:rPr lang="ru-RU" dirty="0"/>
              <a:t> – 53.09 %</a:t>
            </a:r>
          </a:p>
          <a:p>
            <a:r>
              <a:rPr lang="ru-RU" dirty="0"/>
              <a:t>Ноябрь</a:t>
            </a:r>
            <a:r>
              <a:rPr lang="en-US" dirty="0"/>
              <a:t> 2022</a:t>
            </a:r>
            <a:r>
              <a:rPr lang="ru-RU" dirty="0"/>
              <a:t> – 47.22 %</a:t>
            </a:r>
          </a:p>
          <a:p>
            <a:r>
              <a:rPr lang="ru-RU" dirty="0">
                <a:highlight>
                  <a:srgbClr val="FF0000"/>
                </a:highlight>
              </a:rPr>
              <a:t>Декабрь</a:t>
            </a:r>
            <a:r>
              <a:rPr lang="en-US" dirty="0">
                <a:highlight>
                  <a:srgbClr val="FF0000"/>
                </a:highlight>
              </a:rPr>
              <a:t> 2022</a:t>
            </a:r>
            <a:r>
              <a:rPr lang="ru-RU" dirty="0">
                <a:highlight>
                  <a:srgbClr val="FF0000"/>
                </a:highlight>
              </a:rPr>
              <a:t> – 36.9 %</a:t>
            </a:r>
          </a:p>
          <a:p>
            <a:r>
              <a:rPr lang="ru-RU" dirty="0"/>
              <a:t>Январь</a:t>
            </a:r>
            <a:r>
              <a:rPr lang="en-US" dirty="0"/>
              <a:t> 2023</a:t>
            </a:r>
            <a:r>
              <a:rPr lang="ru-RU" dirty="0"/>
              <a:t> – 47.57 %</a:t>
            </a:r>
          </a:p>
          <a:p>
            <a:r>
              <a:rPr lang="ru-RU" dirty="0"/>
              <a:t>Февраль</a:t>
            </a:r>
            <a:r>
              <a:rPr lang="en-US" dirty="0"/>
              <a:t> 2023</a:t>
            </a:r>
            <a:r>
              <a:rPr lang="ru-RU" dirty="0"/>
              <a:t> – 48.06 % </a:t>
            </a:r>
          </a:p>
          <a:p>
            <a:r>
              <a:rPr lang="ru-RU" dirty="0"/>
              <a:t>Март</a:t>
            </a:r>
            <a:r>
              <a:rPr lang="en-US" dirty="0"/>
              <a:t> 2023</a:t>
            </a:r>
            <a:r>
              <a:rPr lang="ru-RU" dirty="0"/>
              <a:t> – 43.31 % </a:t>
            </a:r>
          </a:p>
          <a:p>
            <a:r>
              <a:rPr lang="ru-RU" dirty="0"/>
              <a:t>Апрель</a:t>
            </a:r>
            <a:r>
              <a:rPr lang="en-US" dirty="0"/>
              <a:t> 2023 </a:t>
            </a:r>
            <a:r>
              <a:rPr lang="ru-RU" dirty="0"/>
              <a:t>– 45.67 %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7816B0-691C-F827-D56B-9D8F21D5C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430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29DF2-773C-DE33-EA25-AD0B518F6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Реферальная программа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C33B63-142F-22CF-5400-AD7CB676B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Количество реферальных предложений игроков: </a:t>
            </a:r>
          </a:p>
          <a:p>
            <a:r>
              <a:rPr lang="ru-RU" dirty="0"/>
              <a:t>7993</a:t>
            </a:r>
          </a:p>
          <a:p>
            <a:pPr marL="0" indent="0">
              <a:buNone/>
            </a:pPr>
            <a:r>
              <a:rPr lang="ru-RU" dirty="0"/>
              <a:t>Количество регистраций с предложений: </a:t>
            </a:r>
          </a:p>
          <a:p>
            <a:r>
              <a:rPr lang="ru-RU" dirty="0"/>
              <a:t>2834 (36% от общего кол-ва) </a:t>
            </a:r>
          </a:p>
        </p:txBody>
      </p:sp>
    </p:spTree>
    <p:extLst>
      <p:ext uri="{BB962C8B-B14F-4D97-AF65-F5344CB8AC3E}">
        <p14:creationId xmlns:p14="http://schemas.microsoft.com/office/powerpoint/2010/main" val="2243547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F044D-4B7F-E1DB-2011-298D06945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1" y="971177"/>
            <a:ext cx="10208830" cy="103257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err="1"/>
              <a:t>Реферальная</a:t>
            </a:r>
            <a:r>
              <a:rPr lang="en-US" sz="3400" dirty="0"/>
              <a:t> </a:t>
            </a:r>
            <a:r>
              <a:rPr lang="en-US" sz="3400" dirty="0" err="1"/>
              <a:t>программа</a:t>
            </a:r>
            <a:r>
              <a:rPr lang="en-US" sz="3400" dirty="0"/>
              <a:t>. </a:t>
            </a:r>
            <a:r>
              <a:rPr lang="en-US" sz="3400" dirty="0" err="1"/>
              <a:t>Топ</a:t>
            </a:r>
            <a:r>
              <a:rPr lang="en-US" sz="3400" dirty="0"/>
              <a:t> 50 </a:t>
            </a:r>
            <a:r>
              <a:rPr lang="en-US" sz="3400" dirty="0" err="1"/>
              <a:t>по</a:t>
            </a:r>
            <a:r>
              <a:rPr lang="en-US" sz="3400" dirty="0"/>
              <a:t> </a:t>
            </a:r>
            <a:r>
              <a:rPr lang="en-US" sz="3400" dirty="0" err="1"/>
              <a:t>приглашениям</a:t>
            </a:r>
            <a:r>
              <a:rPr lang="en-US" sz="3400" dirty="0"/>
              <a:t>  </a:t>
            </a: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3DEC252E-C36D-C54E-2386-C0D58F3F8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9112" y="2526856"/>
            <a:ext cx="1468247" cy="351676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66C4293-3781-E653-2A59-0B58F56D1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827" y="2523730"/>
            <a:ext cx="1387088" cy="351676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60C7EB7-8960-43F8-A84E-5D651A315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700" y="2523731"/>
            <a:ext cx="1305139" cy="353771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F582DE-A8C5-60B2-3674-157783B86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4080" y="2544687"/>
            <a:ext cx="1387087" cy="351676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06B996-768A-89D1-081B-4F0E34319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5449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322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D5D9C-14A3-D467-69E7-4CF7465FB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ru-RU" dirty="0"/>
              <a:t>«Битые строки»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966E99-481D-7897-2E52-A7A9CAAC2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«Битые строки» - сессии, у которых не заполнено поле «</a:t>
            </a:r>
            <a:r>
              <a:rPr lang="ru-RU" dirty="0" err="1"/>
              <a:t>end_session</a:t>
            </a:r>
            <a:r>
              <a:rPr lang="ru-RU" dirty="0"/>
              <a:t>»</a:t>
            </a:r>
          </a:p>
          <a:p>
            <a:pPr marL="0" indent="0">
              <a:buNone/>
            </a:pPr>
            <a:r>
              <a:rPr lang="ru-RU" dirty="0"/>
              <a:t>Количество проблемных строк: </a:t>
            </a:r>
          </a:p>
          <a:p>
            <a:r>
              <a:rPr lang="ru-RU" dirty="0"/>
              <a:t>3287 </a:t>
            </a:r>
          </a:p>
          <a:p>
            <a:pPr marL="0" indent="0">
              <a:buNone/>
            </a:pPr>
            <a:r>
              <a:rPr lang="ru-RU" dirty="0"/>
              <a:t>Доля по операционным системам: </a:t>
            </a:r>
          </a:p>
          <a:p>
            <a:r>
              <a:rPr lang="en-US" dirty="0"/>
              <a:t>Android – 2.56 %</a:t>
            </a:r>
          </a:p>
          <a:p>
            <a:r>
              <a:rPr lang="en-US" dirty="0"/>
              <a:t>Ios – 97.44 % </a:t>
            </a:r>
            <a:endParaRPr lang="ru-RU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025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9D6D20-025F-759F-9185-3862C2928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ru-RU" dirty="0"/>
              <a:t>Маркетинговые акции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41C5180-2E99-A5EE-1712-95D6739CE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98773"/>
            <a:ext cx="8920480" cy="2074011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1B698392-31F3-E282-9537-FFDB08CC8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9253" y="835395"/>
            <a:ext cx="4563618" cy="3760459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1400" dirty="0"/>
              <a:t>В марте 2023 года маркетинг провёл акцию: чем чаще игрок заходил в игру, тем больше получал бесплатных кристаллов. Акция шла первые 3 недели марта.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400" dirty="0"/>
              <a:t>Вопрос</a:t>
            </a:r>
            <a:r>
              <a:rPr lang="ru-RU" sz="1400" b="1" dirty="0"/>
              <a:t>:</a:t>
            </a:r>
            <a:r>
              <a:rPr lang="ru-RU" sz="1400" dirty="0"/>
              <a:t> Видим ли мы позитивный эффект этой акции в метриках?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400" dirty="0"/>
              <a:t>На графике представлено поведение показателя </a:t>
            </a:r>
            <a:r>
              <a:rPr lang="en-US" sz="1400" dirty="0"/>
              <a:t>MAU (</a:t>
            </a:r>
            <a:r>
              <a:rPr lang="ru-RU" sz="1400" dirty="0"/>
              <a:t>количество заходов в игру в месяц). На визуализации отчетливо виден скачок кол-ва посещений в марте.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400" dirty="0"/>
              <a:t>Вывод: акция оправдала свои ожидания, во время ее проведения игроки стали чаще заходить в игру.  </a:t>
            </a:r>
          </a:p>
          <a:p>
            <a:pPr marL="0" indent="0">
              <a:lnSpc>
                <a:spcPct val="110000"/>
              </a:lnSpc>
              <a:buNone/>
            </a:pPr>
            <a:endParaRPr lang="ru-RU" sz="14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09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A475B-4398-5EF9-1512-AB0B4344A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Маркетинговые акции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60F2E7-405E-70F6-3044-94BFF3302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Теперь мы планируем новую акцию: бонусы получат игроки, которые проводят в игре больше всего времени. Но в первую очередь нас интересуют игроки, зарегистрированные в 2022 году.</a:t>
            </a:r>
          </a:p>
          <a:p>
            <a:pPr marL="0" indent="0">
              <a:buNone/>
            </a:pPr>
            <a:r>
              <a:rPr lang="ru-RU" dirty="0"/>
              <a:t>Вот </a:t>
            </a:r>
            <a:r>
              <a:rPr lang="en-US" dirty="0"/>
              <a:t>id </a:t>
            </a:r>
            <a:r>
              <a:rPr lang="ru-RU" dirty="0"/>
              <a:t>игроков, которые получат бонусы: 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5C24341-3B85-BA3C-5DB7-D58877D04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693523"/>
              </p:ext>
            </p:extLst>
          </p:nvPr>
        </p:nvGraphicFramePr>
        <p:xfrm>
          <a:off x="660992" y="4389120"/>
          <a:ext cx="4714240" cy="1498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2848">
                  <a:extLst>
                    <a:ext uri="{9D8B030D-6E8A-4147-A177-3AD203B41FA5}">
                      <a16:colId xmlns:a16="http://schemas.microsoft.com/office/drawing/2014/main" val="237988397"/>
                    </a:ext>
                  </a:extLst>
                </a:gridCol>
                <a:gridCol w="942848">
                  <a:extLst>
                    <a:ext uri="{9D8B030D-6E8A-4147-A177-3AD203B41FA5}">
                      <a16:colId xmlns:a16="http://schemas.microsoft.com/office/drawing/2014/main" val="3264527601"/>
                    </a:ext>
                  </a:extLst>
                </a:gridCol>
                <a:gridCol w="942848">
                  <a:extLst>
                    <a:ext uri="{9D8B030D-6E8A-4147-A177-3AD203B41FA5}">
                      <a16:colId xmlns:a16="http://schemas.microsoft.com/office/drawing/2014/main" val="622154520"/>
                    </a:ext>
                  </a:extLst>
                </a:gridCol>
                <a:gridCol w="942848">
                  <a:extLst>
                    <a:ext uri="{9D8B030D-6E8A-4147-A177-3AD203B41FA5}">
                      <a16:colId xmlns:a16="http://schemas.microsoft.com/office/drawing/2014/main" val="2339010900"/>
                    </a:ext>
                  </a:extLst>
                </a:gridCol>
                <a:gridCol w="942848">
                  <a:extLst>
                    <a:ext uri="{9D8B030D-6E8A-4147-A177-3AD203B41FA5}">
                      <a16:colId xmlns:a16="http://schemas.microsoft.com/office/drawing/2014/main" val="1642805897"/>
                    </a:ext>
                  </a:extLst>
                </a:gridCol>
              </a:tblGrid>
              <a:tr h="2997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2902744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2903006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2901948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2901519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2901611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23030089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2903516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2901218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2902846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2903986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2903797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400774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2901980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2901168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2901648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2903106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2903735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584915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2901943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2903361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2902723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2902358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2903053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4225257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2902753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2902442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2901672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2901282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2902281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25254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247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FDE77-3445-4CD9-19D1-5F02A628C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Клиентские выплаты </a:t>
            </a: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5EFABE8F-14F0-5492-BBA0-106401BEBE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24"/>
          <a:stretch>
            <a:fillRect/>
          </a:stretch>
        </p:blipFill>
        <p:spPr>
          <a:xfrm>
            <a:off x="640080" y="2449332"/>
            <a:ext cx="8505562" cy="3851206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95D5097E-A9E8-66DD-F524-8B208251E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507" y="1275409"/>
            <a:ext cx="3330448" cy="267410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cap="all" spc="300" dirty="0" err="1"/>
              <a:t>Вопрос</a:t>
            </a:r>
            <a:r>
              <a:rPr lang="en-US" sz="1600" b="1" cap="all" spc="300" dirty="0"/>
              <a:t>: </a:t>
            </a:r>
            <a:r>
              <a:rPr lang="en-US" sz="1600" b="1" cap="all" spc="300" dirty="0" err="1"/>
              <a:t>видим</a:t>
            </a:r>
            <a:r>
              <a:rPr lang="en-US" sz="1600" b="1" cap="all" spc="300" dirty="0"/>
              <a:t> </a:t>
            </a:r>
            <a:r>
              <a:rPr lang="en-US" sz="1600" b="1" cap="all" spc="300" dirty="0" err="1"/>
              <a:t>ли</a:t>
            </a:r>
            <a:r>
              <a:rPr lang="en-US" sz="1600" b="1" cap="all" spc="300" dirty="0"/>
              <a:t> </a:t>
            </a:r>
            <a:r>
              <a:rPr lang="en-US" sz="1600" b="1" cap="all" spc="300" dirty="0" err="1"/>
              <a:t>мы</a:t>
            </a:r>
            <a:r>
              <a:rPr lang="en-US" sz="1600" b="1" cap="all" spc="300" dirty="0"/>
              <a:t> </a:t>
            </a:r>
            <a:r>
              <a:rPr lang="en-US" sz="1600" b="1" cap="all" spc="300" dirty="0" err="1"/>
              <a:t>какие-то</a:t>
            </a:r>
            <a:r>
              <a:rPr lang="en-US" sz="1600" b="1" cap="all" spc="300" dirty="0"/>
              <a:t> </a:t>
            </a:r>
            <a:r>
              <a:rPr lang="en-US" sz="1600" b="1" cap="all" spc="300" dirty="0" err="1"/>
              <a:t>значимые</a:t>
            </a:r>
            <a:r>
              <a:rPr lang="en-US" sz="1600" b="1" cap="all" spc="300" dirty="0"/>
              <a:t> </a:t>
            </a:r>
            <a:r>
              <a:rPr lang="en-US" sz="1600" b="1" cap="all" spc="300" dirty="0" err="1"/>
              <a:t>изменения</a:t>
            </a:r>
            <a:r>
              <a:rPr lang="en-US" sz="1600" b="1" cap="all" spc="300" dirty="0"/>
              <a:t> в </a:t>
            </a:r>
            <a:r>
              <a:rPr lang="en-US" sz="1600" b="1" cap="all" spc="300" dirty="0" err="1"/>
              <a:t>структуре</a:t>
            </a:r>
            <a:r>
              <a:rPr lang="en-US" sz="1600" b="1" cap="all" spc="300" dirty="0"/>
              <a:t> </a:t>
            </a:r>
            <a:r>
              <a:rPr lang="en-US" sz="1600" b="1" cap="all" spc="300" dirty="0" err="1"/>
              <a:t>выручки</a:t>
            </a:r>
            <a:r>
              <a:rPr lang="en-US" sz="1600" b="1" cap="all" spc="300" dirty="0"/>
              <a:t> с </a:t>
            </a:r>
            <a:r>
              <a:rPr lang="en-US" sz="1600" b="1" cap="all" spc="300" dirty="0" err="1"/>
              <a:t>течением</a:t>
            </a:r>
            <a:r>
              <a:rPr lang="en-US" sz="1600" b="1" cap="all" spc="300" dirty="0"/>
              <a:t> </a:t>
            </a:r>
            <a:r>
              <a:rPr lang="en-US" sz="1600" b="1" cap="all" spc="300" dirty="0" err="1"/>
              <a:t>времени</a:t>
            </a:r>
            <a:r>
              <a:rPr lang="en-US" sz="1600" b="1" cap="all" spc="300" dirty="0"/>
              <a:t>?</a:t>
            </a:r>
            <a:endParaRPr lang="ru-RU" sz="1600" b="1" cap="all" spc="300" dirty="0"/>
          </a:p>
          <a:p>
            <a:pPr marL="0" indent="0">
              <a:lnSpc>
                <a:spcPct val="110000"/>
              </a:lnSpc>
              <a:buNone/>
            </a:pPr>
            <a:r>
              <a:rPr lang="ru-RU" sz="1600" b="1" cap="all" spc="300" dirty="0"/>
              <a:t>---</a:t>
            </a:r>
            <a:r>
              <a:rPr lang="en-US" sz="1600" b="1" cap="all" spc="300" dirty="0"/>
              <a:t>-------------------------</a:t>
            </a:r>
            <a:endParaRPr lang="ru-RU" sz="1600" b="1" cap="all" spc="300" dirty="0"/>
          </a:p>
          <a:p>
            <a:pPr marL="0" indent="0">
              <a:lnSpc>
                <a:spcPct val="110000"/>
              </a:lnSpc>
              <a:buNone/>
            </a:pPr>
            <a:r>
              <a:rPr lang="ru-RU" sz="1600" b="1" cap="all" spc="300" dirty="0"/>
              <a:t>На представленном графике можно заметить, что в марте происходит резкий скачок клиентских выплат, связанных с такими типами продуктов как: </a:t>
            </a:r>
            <a:r>
              <a:rPr lang="en-US" sz="1600" b="1" cap="all" spc="300" dirty="0"/>
              <a:t>“Currency”, “Materials” </a:t>
            </a:r>
            <a:r>
              <a:rPr lang="ru-RU" sz="1600" b="1" cap="all" spc="300" dirty="0"/>
              <a:t>и </a:t>
            </a:r>
            <a:r>
              <a:rPr lang="en-US" sz="1600" b="1" cap="all" spc="300" dirty="0"/>
              <a:t>“Ammo”.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605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E669-D2C1-5187-C09D-E55B48367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ru-RU" dirty="0"/>
              <a:t>Увеличение цен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706DFA-D45B-023E-89ED-C2FF1C088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17780"/>
            <a:ext cx="9450416" cy="2355004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9726FCBA-3FA3-3BCD-454B-0D30493E7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6130" y="418667"/>
            <a:ext cx="4563618" cy="3760459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1400" dirty="0"/>
              <a:t>С 1 января 2023 года мы увеличили стоимость одного кристалла. Повлияло ли изменение цены на динамику среднего количества приобретаемых кристаллов на одну покупку? Повлияло ли изменение на суммарную выручку, которую мы получаем с кристаллов?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400" dirty="0"/>
              <a:t>---------------------------------------------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400" dirty="0"/>
              <a:t>Для ответа на данные вопросы обратимся к статистике: на графике мы видим 2 линии: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 err="1"/>
              <a:t>avg_cnt</a:t>
            </a:r>
            <a:r>
              <a:rPr lang="en-US" sz="1400" dirty="0"/>
              <a:t> – </a:t>
            </a:r>
            <a:r>
              <a:rPr lang="ru-RU" sz="1400" dirty="0"/>
              <a:t>среднее кол-во кристаллов в одной покупке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/>
              <a:t>revenue – </a:t>
            </a:r>
            <a:r>
              <a:rPr lang="ru-RU" sz="1400" dirty="0"/>
              <a:t>суммарная выручка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400" dirty="0"/>
              <a:t>Можно заметить, что в январе кол-во покупаемых кристаллов упало. Выручка на фоне данных изменений не выросла.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0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DFE428-3B6F-599B-D993-8A9D2750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Привлечение игроков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4A4265-F01F-2CBC-235B-3B2D8C822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ноябре и декабре 2022 года была опробована альтернативная стратегия привлечения клиентов.</a:t>
            </a:r>
          </a:p>
          <a:p>
            <a:pPr marL="0" indent="0">
              <a:buNone/>
            </a:pPr>
            <a:r>
              <a:rPr lang="ru-RU" dirty="0"/>
              <a:t>Проверьте следующую гипотезу: в ноябре и декабре 2022 года из-за более дорогой и таргетированной рекламы мы приобрели более “лояльных” игроков, которые больше времени посвящают нашей игре.</a:t>
            </a:r>
          </a:p>
          <a:p>
            <a:pPr marL="0" indent="0">
              <a:buNone/>
            </a:pPr>
            <a:r>
              <a:rPr lang="ru-RU" dirty="0"/>
              <a:t>Средняя длительность игровых сессий игроков: </a:t>
            </a:r>
          </a:p>
          <a:p>
            <a:r>
              <a:rPr lang="ru-RU" dirty="0"/>
              <a:t>Привлеченные по альтернативной стратегии (ноябрь-декабрь 2022) – 3 часа 37 минут</a:t>
            </a:r>
          </a:p>
          <a:p>
            <a:r>
              <a:rPr lang="ru-RU" dirty="0"/>
              <a:t>Привлеченные по обычной стратегии – 2 часа 57 минут </a:t>
            </a:r>
          </a:p>
        </p:txBody>
      </p:sp>
    </p:spTree>
    <p:extLst>
      <p:ext uri="{BB962C8B-B14F-4D97-AF65-F5344CB8AC3E}">
        <p14:creationId xmlns:p14="http://schemas.microsoft.com/office/powerpoint/2010/main" val="1429067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04762-FAD6-7EF2-4BE3-D5CAF06F8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K-factor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C00201-A30E-17C3-07FB-DF36B41FD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K-</a:t>
            </a:r>
            <a:r>
              <a:rPr lang="ru-RU" b="1" dirty="0" err="1"/>
              <a:t>factor</a:t>
            </a:r>
            <a:r>
              <a:rPr lang="ru-RU" dirty="0"/>
              <a:t> - это метрика, которая показывает “вирусность” игры. Благодаря ней можно определить до какого размера вырастет наша текущая клиентская база за счёт приглашений друзей.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ru-RU" dirty="0"/>
              <a:t>В нашем случае </a:t>
            </a:r>
            <a:r>
              <a:rPr lang="en-US" dirty="0"/>
              <a:t>K-factor = 0.92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Средний размер когорты = 332.44</a:t>
            </a:r>
          </a:p>
          <a:p>
            <a:pPr marL="0" indent="0">
              <a:buNone/>
            </a:pPr>
            <a:r>
              <a:rPr lang="ru-RU" dirty="0"/>
              <a:t>Из этих данных следует, что одна будущая среднестатистическая когорта сможет  принести нам </a:t>
            </a:r>
            <a:r>
              <a:rPr lang="ru-RU" b="1" dirty="0"/>
              <a:t>306.09</a:t>
            </a:r>
            <a:r>
              <a:rPr lang="ru-RU" dirty="0"/>
              <a:t> пользователей </a:t>
            </a:r>
          </a:p>
        </p:txBody>
      </p:sp>
    </p:spTree>
    <p:extLst>
      <p:ext uri="{BB962C8B-B14F-4D97-AF65-F5344CB8AC3E}">
        <p14:creationId xmlns:p14="http://schemas.microsoft.com/office/powerpoint/2010/main" val="3322471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05731-B4A9-4039-8C6E-C264F45AC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LMAU-LWAU-LDAU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3AFDD6-3F9A-5DF0-6C6B-FFE5301A6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LMAU-LWAU-LDAU – </a:t>
            </a:r>
            <a:r>
              <a:rPr lang="ru-RU" dirty="0"/>
              <a:t>Количество уникальных лояльных пользователей, которые взаимодействовали с игрой в течении определенного периода времени: </a:t>
            </a:r>
          </a:p>
          <a:p>
            <a:pPr marL="0" indent="0">
              <a:buNone/>
            </a:pPr>
            <a:r>
              <a:rPr lang="en-US" dirty="0"/>
              <a:t>LMAU</a:t>
            </a:r>
            <a:r>
              <a:rPr lang="ru-RU" dirty="0"/>
              <a:t> – статистика за месяц </a:t>
            </a:r>
          </a:p>
          <a:p>
            <a:pPr marL="0" indent="0">
              <a:buNone/>
            </a:pPr>
            <a:r>
              <a:rPr lang="en-US" dirty="0"/>
              <a:t>LWAU</a:t>
            </a:r>
            <a:r>
              <a:rPr lang="ru-RU" dirty="0"/>
              <a:t> – статистика за неделю</a:t>
            </a:r>
          </a:p>
          <a:p>
            <a:pPr marL="0" indent="0">
              <a:buNone/>
            </a:pPr>
            <a:r>
              <a:rPr lang="en-US" dirty="0"/>
              <a:t>LDAU</a:t>
            </a:r>
            <a:r>
              <a:rPr lang="ru-RU" dirty="0"/>
              <a:t> – статистика за день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На следующих слайдах будут показаны результаты анализа работы с  показателем </a:t>
            </a:r>
            <a:r>
              <a:rPr lang="en-US" dirty="0"/>
              <a:t>LMAU</a:t>
            </a:r>
            <a:r>
              <a:rPr lang="ru-RU" dirty="0"/>
              <a:t> для различных лояльных пользователей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992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0EDAA3-41E7-4697-F07E-7B406B2D6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432561"/>
            <a:ext cx="10890929" cy="1097280"/>
          </a:xfrm>
        </p:spPr>
        <p:txBody>
          <a:bodyPr/>
          <a:lstStyle/>
          <a:p>
            <a:r>
              <a:rPr lang="en-US" dirty="0"/>
              <a:t>LMAU-LWAU-LDAU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A546A7-FD22-6F9E-D849-51A44B15C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434936"/>
            <a:ext cx="10890928" cy="356616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Допустим, </a:t>
            </a:r>
            <a:r>
              <a:rPr lang="ru-RU" i="1" dirty="0"/>
              <a:t>лояльным</a:t>
            </a:r>
            <a:r>
              <a:rPr lang="ru-RU" dirty="0"/>
              <a:t> считается тот пользователь, который пригласил как минимум троих друзей, из которых как минимум один в результате зарегистрировался в нашей игре.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Назовем данный критерий </a:t>
            </a:r>
            <a:r>
              <a:rPr lang="ru-RU" i="1" dirty="0" err="1"/>
              <a:t>crit_invite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Динамика LMAU для критерия лояльности </a:t>
            </a:r>
            <a:r>
              <a:rPr lang="ru-RU" i="1" dirty="0" err="1"/>
              <a:t>crit_invite</a:t>
            </a:r>
            <a:r>
              <a:rPr lang="ru-RU" i="1" dirty="0"/>
              <a:t>: 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A72CBC-C745-B7AD-0E0E-EE74A68EE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93" y="4218016"/>
            <a:ext cx="10264642" cy="243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18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496F6-A84F-5D9E-8982-1D2BF59D2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LMAU-LWAU-LDAU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542B76-7606-E2BB-8ED9-50D7B63CC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Допустим, </a:t>
            </a:r>
            <a:r>
              <a:rPr lang="ru-RU" i="1" dirty="0"/>
              <a:t>лояльным</a:t>
            </a:r>
            <a:r>
              <a:rPr lang="ru-RU" dirty="0"/>
              <a:t> считается тот пользователь, который заплатил суммарно больше 1000 рублей за всё время.</a:t>
            </a:r>
          </a:p>
          <a:p>
            <a:pPr marL="0" indent="0">
              <a:buNone/>
            </a:pPr>
            <a:r>
              <a:rPr lang="ru-RU" dirty="0"/>
              <a:t>Назовем данный критерий </a:t>
            </a:r>
            <a:r>
              <a:rPr lang="ru-RU" i="1" dirty="0"/>
              <a:t>crit_1000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Динамика LMAU для критерия лояльности </a:t>
            </a:r>
            <a:r>
              <a:rPr lang="ru-RU" i="1" dirty="0"/>
              <a:t>crit_1000: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33C0E6-6213-24E0-AC5E-0D9A17AFE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4383858"/>
            <a:ext cx="10322563" cy="198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864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D9697F-8779-AC84-EA9B-FE3FC793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LMAU-LWAU-LDAU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6710CD-98A8-6BDC-E6C4-64206840F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Динамика LMAU для критерия лояльности </a:t>
            </a:r>
            <a:r>
              <a:rPr lang="ru-RU" i="1" dirty="0" err="1"/>
              <a:t>crit_invite</a:t>
            </a:r>
            <a:r>
              <a:rPr lang="ru-RU" dirty="0"/>
              <a:t> и </a:t>
            </a:r>
            <a:r>
              <a:rPr lang="ru-RU" i="1" dirty="0"/>
              <a:t>crit_1000</a:t>
            </a:r>
            <a:r>
              <a:rPr lang="ru-RU" dirty="0"/>
              <a:t>. То есть чтобы считаться </a:t>
            </a:r>
            <a:r>
              <a:rPr lang="ru-RU" i="1" dirty="0"/>
              <a:t>лояльным</a:t>
            </a:r>
            <a:r>
              <a:rPr lang="ru-RU" dirty="0"/>
              <a:t>, клиенту необходимо удовлетворять обоим условиям.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5BBA2B-4A0F-E990-9C2F-1055B1468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3429000"/>
            <a:ext cx="11218471" cy="221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77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9967DD-8228-F713-7533-69EE02FED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LMAU-LWAU-LDAU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F4AD4D-8332-2142-CAC9-4477C3A30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Динамика LMAU для критерия лояльности </a:t>
            </a:r>
            <a:r>
              <a:rPr lang="ru-RU" i="1" dirty="0" err="1"/>
              <a:t>crit_invite</a:t>
            </a:r>
            <a:r>
              <a:rPr lang="ru-RU" dirty="0"/>
              <a:t> или </a:t>
            </a:r>
            <a:r>
              <a:rPr lang="ru-RU" i="1" dirty="0"/>
              <a:t>crit_1000.</a:t>
            </a:r>
            <a:r>
              <a:rPr lang="ru-RU" dirty="0"/>
              <a:t> То есть чтобы считаться </a:t>
            </a:r>
            <a:r>
              <a:rPr lang="ru-RU" i="1" dirty="0"/>
              <a:t>лояльным</a:t>
            </a:r>
            <a:r>
              <a:rPr lang="ru-RU" dirty="0"/>
              <a:t>, клиенту необходимо удовлетворять хотя бы одному условию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9895A1-70A8-B6F1-1E33-ACA05B79F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3586992"/>
            <a:ext cx="10220960" cy="189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88240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928</Words>
  <Application>Microsoft Office PowerPoint</Application>
  <PresentationFormat>Широкоэкранный</PresentationFormat>
  <Paragraphs>134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Aptos</vt:lpstr>
      <vt:lpstr>Aptos Narrow</vt:lpstr>
      <vt:lpstr>Arial</vt:lpstr>
      <vt:lpstr>Grandview Display</vt:lpstr>
      <vt:lpstr>DashVTI</vt:lpstr>
      <vt:lpstr>Результаты анализа проекта «Zombie Revolution»</vt:lpstr>
      <vt:lpstr>Общая информация</vt:lpstr>
      <vt:lpstr>Игровые сессии </vt:lpstr>
      <vt:lpstr>Игровые сессии </vt:lpstr>
      <vt:lpstr>Игровые сессии </vt:lpstr>
      <vt:lpstr>Реферальная программа </vt:lpstr>
      <vt:lpstr>Реферальная программа. Топ 50 по приглашениям  </vt:lpstr>
      <vt:lpstr>«Битые строки»</vt:lpstr>
      <vt:lpstr>Маркетинговые акции </vt:lpstr>
      <vt:lpstr>Маркетинговые акции </vt:lpstr>
      <vt:lpstr>Клиентские выплаты </vt:lpstr>
      <vt:lpstr>Увеличение цен</vt:lpstr>
      <vt:lpstr>Привлечение игроков </vt:lpstr>
      <vt:lpstr>K-factor </vt:lpstr>
      <vt:lpstr>LMAU-LWAU-LDAU </vt:lpstr>
      <vt:lpstr>LMAU-LWAU-LDAU </vt:lpstr>
      <vt:lpstr>LMAU-LWAU-LDAU </vt:lpstr>
      <vt:lpstr>LMAU-LWAU-LDAU </vt:lpstr>
      <vt:lpstr>LMAU-LWAU-LDAU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2026-03-16T16:12:34Z</dcterms:created>
  <dcterms:modified xsi:type="dcterms:W3CDTF">2026-03-16T21:22:35Z</dcterms:modified>
</cp:coreProperties>
</file>